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Roboto Bold" panose="020B0604020202020204" charset="0"/>
      <p:bold r:id="rId29"/>
    </p:embeddedFont>
    <p:embeddedFont>
      <p:font typeface="Poppins Light" panose="020B0604020202020204" charset="0"/>
      <p:regular r:id="rId30"/>
    </p:embeddedFont>
    <p:embeddedFont>
      <p:font typeface="Roboto Light" panose="020B0604020202020204" charset="0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3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214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4.png"/><Relationship Id="rId5" Type="http://schemas.openxmlformats.org/officeDocument/2006/relationships/image" Target="../media/image4.svg"/><Relationship Id="rId10" Type="http://schemas.openxmlformats.org/officeDocument/2006/relationships/image" Target="../media/image3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44.jpe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7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1287066"/>
            <a:ext cx="10751592" cy="2362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400" dirty="0" err="1" smtClean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Projeto</a:t>
            </a:r>
            <a:r>
              <a:rPr lang="en-US" sz="7400" dirty="0" smtClean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7400" dirty="0" err="1" smtClean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Engenharia</a:t>
            </a:r>
            <a:r>
              <a:rPr lang="en-US" sz="7400" dirty="0" smtClean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de Dados</a:t>
            </a:r>
            <a:endParaRPr lang="en-US" sz="7400" dirty="0"/>
          </a:p>
        </p:txBody>
      </p:sp>
      <p:sp>
        <p:nvSpPr>
          <p:cNvPr id="5" name="Text 2"/>
          <p:cNvSpPr/>
          <p:nvPr/>
        </p:nvSpPr>
        <p:spPr>
          <a:xfrm>
            <a:off x="661475" y="3838873"/>
            <a:ext cx="6336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Formula 1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61475" y="4500364"/>
            <a:ext cx="6946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que os dados revelam sobre vencer em Interlagos?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5062637"/>
            <a:ext cx="6336745" cy="2540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16253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 que faz uma equipe vencer em Interlagos?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356682" y="249942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Milésimos de segundo separam vencedores de retardatários.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3227090"/>
            <a:ext cx="292886" cy="2928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3756223"/>
            <a:ext cx="14648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Ritmo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93811" y="3227090"/>
            <a:ext cx="292886" cy="2928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93811" y="3756223"/>
            <a:ext cx="14648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Estratégia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526147" y="3227090"/>
            <a:ext cx="292886" cy="2928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26147" y="3756223"/>
            <a:ext cx="14648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Stops</a:t>
            </a:r>
            <a:endParaRPr lang="en-US" sz="1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58483" y="3227090"/>
            <a:ext cx="292886" cy="29289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58483" y="3756223"/>
            <a:ext cx="14648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Clima</a:t>
            </a:r>
            <a:endParaRPr lang="en-US" sz="18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90819" y="3227090"/>
            <a:ext cx="270265" cy="2702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390819" y="3733602"/>
            <a:ext cx="13516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Grid</a:t>
            </a:r>
            <a:endParaRPr lang="en-US" sz="18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209949" y="3227090"/>
            <a:ext cx="270265" cy="27027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209949" y="3733602"/>
            <a:ext cx="13516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Pneus</a:t>
            </a:r>
            <a:endParaRPr lang="en-US" sz="1850" dirty="0"/>
          </a:p>
        </p:txBody>
      </p:sp>
      <p:sp>
        <p:nvSpPr>
          <p:cNvPr id="18" name="Shape 9"/>
          <p:cNvSpPr/>
          <p:nvPr/>
        </p:nvSpPr>
        <p:spPr>
          <a:xfrm>
            <a:off x="661475" y="4476750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482" y="4744442"/>
            <a:ext cx="236234" cy="18901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275723" y="471299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 que realmente diferencia uma corrida vencedora em Interlagos?</a:t>
            </a:r>
            <a:endParaRPr lang="en-US" sz="1450" dirty="0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475" y="3165549"/>
            <a:ext cx="10631384" cy="8859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661475" y="568623"/>
            <a:ext cx="1634191" cy="246856"/>
          </a:xfrm>
          <a:prstGeom prst="roundRect">
            <a:avLst>
              <a:gd name="adj" fmla="val 22110"/>
            </a:avLst>
          </a:prstGeom>
          <a:solidFill>
            <a:srgbClr val="2525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58905" y="617339"/>
            <a:ext cx="2048915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PROBLEMA DE NEGÓCIO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871240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Novo piloto. Circuito brutal. Muitas variáveis.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661475" y="1588195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Gabriel Bortoleto estreia na F1 em um dos cenários mais exigentes do calendário.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23049" y="3199507"/>
            <a:ext cx="1997918" cy="40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 smtClean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🏎</a:t>
            </a:r>
            <a:endParaRPr lang="en-US" sz="3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389" y="2184301"/>
            <a:ext cx="2436553" cy="24366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475" y="4800997"/>
            <a:ext cx="332116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Ritmo de Corrida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61475" y="5194300"/>
            <a:ext cx="332116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Fator mais decisivo em Interlagos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103090" y="3199507"/>
            <a:ext cx="1997918" cy="40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🔧</a:t>
            </a:r>
            <a:endParaRPr lang="en-US" sz="3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822" y="2184301"/>
            <a:ext cx="2436553" cy="24366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85260" y="4800997"/>
            <a:ext cx="343377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Estratégia e Pit Stops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385260" y="5194300"/>
            <a:ext cx="3433776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Execução decide posições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883229" y="3199507"/>
            <a:ext cx="1997918" cy="40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 smtClean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🌧</a:t>
            </a:r>
            <a:endParaRPr lang="en-US" sz="3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107" y="2184301"/>
            <a:ext cx="2436553" cy="24366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1655" y="4800997"/>
            <a:ext cx="332116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Pneus e Clima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221655" y="5194300"/>
            <a:ext cx="332116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Variáveis que mudam tudo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61475" y="5701506"/>
            <a:ext cx="10868745" cy="587871"/>
          </a:xfrm>
          <a:prstGeom prst="roundRect">
            <a:avLst>
              <a:gd name="adj" fmla="val 11605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92" y="5904508"/>
            <a:ext cx="202996" cy="1624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9305" y="5881588"/>
            <a:ext cx="1078808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Talento, sozinho, não basta. O que realmente decide o resultado em Interlagos?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626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Objetivos do Projeto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356682" y="143678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Dados históricos de Interlagos → padrões → modelo → inteligência estratégica.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74889" y="3308648"/>
            <a:ext cx="1944440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3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359323"/>
            <a:ext cx="2371269" cy="2371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4966891"/>
            <a:ext cx="2371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Pipeline de Dados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61475" y="5451177"/>
            <a:ext cx="2371269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Coletar e integrar múltiplas fontes da F1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713665" y="3308648"/>
            <a:ext cx="1944440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3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251" y="2359323"/>
            <a:ext cx="2371269" cy="2371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00251" y="4966891"/>
            <a:ext cx="2371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Análise Exploratória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3500251" y="5451177"/>
            <a:ext cx="2371269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Mapear padrões e variáveis decisivas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552441" y="3308648"/>
            <a:ext cx="1944440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3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027" y="2359323"/>
            <a:ext cx="2371269" cy="2371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39027" y="4966891"/>
            <a:ext cx="2371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Machine Learning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339027" y="5451177"/>
            <a:ext cx="2371269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Treinar e comparar modelos de classificação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9391217" y="3161010"/>
            <a:ext cx="1944440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37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7802" y="2211685"/>
            <a:ext cx="2371269" cy="23713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77802" y="4819253"/>
            <a:ext cx="237126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Inteligência Estratégica</a:t>
            </a:r>
            <a:endParaRPr lang="en-US" sz="1850" dirty="0"/>
          </a:p>
        </p:txBody>
      </p:sp>
      <p:sp>
        <p:nvSpPr>
          <p:cNvPr id="21" name="Text 14"/>
          <p:cNvSpPr/>
          <p:nvPr/>
        </p:nvSpPr>
        <p:spPr>
          <a:xfrm>
            <a:off x="9177802" y="5598815"/>
            <a:ext cx="2371269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Recomendações para Bortoleto em Interlagos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55228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 Onde Vieram os Dados?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56682" y="1272183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Duas fontes públicas · 10 anos de história · 6 datasets integrados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1475" y="1810246"/>
            <a:ext cx="5236238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r>
              <a:rPr lang="en-US" sz="15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Jolpica F1 API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3270069" y="2227362"/>
            <a:ext cx="19050" cy="3918347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2973809" y="2400498"/>
            <a:ext cx="324834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218725" y="2349153"/>
            <a:ext cx="121738" cy="121741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61475" y="2283123"/>
            <a:ext cx="1968451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Resultados das corridas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3260544" y="3329285"/>
            <a:ext cx="324834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218725" y="3277939"/>
            <a:ext cx="121738" cy="121741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929262" y="3211909"/>
            <a:ext cx="196845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Stops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2973809" y="4146451"/>
            <a:ext cx="324834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3218725" y="4095105"/>
            <a:ext cx="121738" cy="121741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61475" y="4029075"/>
            <a:ext cx="196845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Voltas por piloto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3260544" y="4963616"/>
            <a:ext cx="324834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3218725" y="4912271"/>
            <a:ext cx="121738" cy="121741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929262" y="4846241"/>
            <a:ext cx="1968451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Calendário · 2015–2025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300332" y="2086868"/>
            <a:ext cx="5236238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🌦️</a:t>
            </a:r>
            <a:r>
              <a:rPr lang="en-US" sz="15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FastF1 Library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8908926" y="2503984"/>
            <a:ext cx="19050" cy="2284016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8612667" y="2677120"/>
            <a:ext cx="324834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8857582" y="2625775"/>
            <a:ext cx="121738" cy="121741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300332" y="2559745"/>
            <a:ext cx="1968451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Dados climáticos · 2018–2025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8899402" y="3605907"/>
            <a:ext cx="324834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8857582" y="3554561"/>
            <a:ext cx="121738" cy="121741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9568119" y="3488531"/>
            <a:ext cx="1968451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Compostos de pneus · 2018–2025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8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81422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Arquitetura de Dados</a:t>
            </a:r>
            <a:endParaRPr lang="en-US" sz="2050" dirty="0"/>
          </a:p>
        </p:txBody>
      </p:sp>
      <p:pic>
        <p:nvPicPr>
          <p:cNvPr id="57" name="Imagem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82" y="1376495"/>
            <a:ext cx="11397133" cy="4668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41437"/>
            <a:ext cx="1086874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Engenharia de Dados: Transformando Ruído em Confiança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61475" y="1187053"/>
            <a:ext cx="1147833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Pipeline ELT com arquitetura Medallion — do dado bruto à inteligência.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281775" y="2822178"/>
            <a:ext cx="2070544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🥉</a:t>
            </a:r>
            <a:endParaRPr lang="en-US" sz="3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570" y="1770063"/>
            <a:ext cx="2525153" cy="2525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4487267"/>
            <a:ext cx="331144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Bronze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61475" y="4900216"/>
            <a:ext cx="331144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Dados brutos preservados · JSON · MinIO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066776" y="2822178"/>
            <a:ext cx="2070544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🥈</a:t>
            </a:r>
            <a:endParaRPr lang="en-US" sz="3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571" y="1770063"/>
            <a:ext cx="2525153" cy="2525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90022" y="4487267"/>
            <a:ext cx="342425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Silver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4390022" y="4900216"/>
            <a:ext cx="342425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Padronização · Validação · DuckDB · Parquet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8851679" y="2822178"/>
            <a:ext cx="2070544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🥇</a:t>
            </a:r>
            <a:endParaRPr lang="en-US" sz="3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473" y="1770063"/>
            <a:ext cx="2525153" cy="2525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31378" y="4487267"/>
            <a:ext cx="331144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Gold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8231378" y="4900216"/>
            <a:ext cx="331144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Dataset analítico · Pronto para ML</a:t>
            </a:r>
            <a:endParaRPr lang="en-US" sz="1050" dirty="0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791" y="2030852"/>
            <a:ext cx="12155596" cy="2229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626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 que os Dados Revelaram?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356682" y="143678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análise exploratória desafiou intuições e confirmou padrões.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74889" y="3161010"/>
            <a:ext cx="1944440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-0,72</a:t>
            </a:r>
            <a:endParaRPr lang="en-US" sz="3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211685"/>
            <a:ext cx="2371269" cy="2371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4819253"/>
            <a:ext cx="2371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Ritmo de Corrida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61475" y="5303540"/>
            <a:ext cx="237126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Correlação com resultado final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713665" y="3161010"/>
            <a:ext cx="1944440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77%</a:t>
            </a:r>
            <a:endParaRPr lang="en-US" sz="3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251" y="2211685"/>
            <a:ext cx="2371269" cy="2371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00251" y="4819253"/>
            <a:ext cx="2371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Largaram na Frente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3500251" y="5303540"/>
            <a:ext cx="237126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Pole ou 1ª fila entre vencedores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552441" y="3161010"/>
            <a:ext cx="1944440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22,5s</a:t>
            </a:r>
            <a:endParaRPr lang="en-US" sz="3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027" y="2211685"/>
            <a:ext cx="2371269" cy="2371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39027" y="4819253"/>
            <a:ext cx="2371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Stop Vencedor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339027" y="5303540"/>
            <a:ext cx="237126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vs 23,1s dos demais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9391217" y="3161010"/>
            <a:ext cx="1944440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≈0</a:t>
            </a:r>
            <a:endParaRPr lang="en-US" sz="37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802" y="2211685"/>
            <a:ext cx="2371269" cy="23713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77802" y="4819253"/>
            <a:ext cx="237126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Impacto do Nº de Paradas</a:t>
            </a:r>
            <a:endParaRPr lang="en-US" sz="1850" dirty="0"/>
          </a:p>
        </p:txBody>
      </p:sp>
      <p:sp>
        <p:nvSpPr>
          <p:cNvPr id="21" name="Text 14"/>
          <p:cNvSpPr/>
          <p:nvPr/>
        </p:nvSpPr>
        <p:spPr>
          <a:xfrm>
            <a:off x="9177802" y="5598815"/>
            <a:ext cx="2371269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Quantidade não diferencia vencedores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6534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As Correlações Mais Importantes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61475" y="1368227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Spearman com posição final — quanto mais negativo, mais associado à vitória.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016522"/>
            <a:ext cx="5783316" cy="396914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83327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4"/>
          <p:cNvSpPr/>
          <p:nvPr/>
        </p:nvSpPr>
        <p:spPr>
          <a:xfrm>
            <a:off x="7078188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7273049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7467909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7662770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7972821" y="2082899"/>
            <a:ext cx="566029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–0,37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883327" y="2495451"/>
            <a:ext cx="222274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Ritmo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883327" y="2938463"/>
            <a:ext cx="2222742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maior preditor de vitória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313729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508589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9703450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9898311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10093172" y="2105124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10403223" y="2082899"/>
            <a:ext cx="571883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–0,22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9313729" y="2495451"/>
            <a:ext cx="222274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Grid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9313729" y="2938463"/>
            <a:ext cx="2222742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largar na frente importa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883327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7078188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1"/>
          <p:cNvSpPr/>
          <p:nvPr/>
        </p:nvSpPr>
        <p:spPr>
          <a:xfrm>
            <a:off x="7273049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2"/>
          <p:cNvSpPr/>
          <p:nvPr/>
        </p:nvSpPr>
        <p:spPr>
          <a:xfrm>
            <a:off x="7467909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3"/>
          <p:cNvSpPr/>
          <p:nvPr/>
        </p:nvSpPr>
        <p:spPr>
          <a:xfrm>
            <a:off x="7662770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4"/>
          <p:cNvSpPr/>
          <p:nvPr/>
        </p:nvSpPr>
        <p:spPr>
          <a:xfrm>
            <a:off x="7972821" y="3556695"/>
            <a:ext cx="521381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–0,18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6883327" y="3969246"/>
            <a:ext cx="222274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Stop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6883327" y="4412258"/>
            <a:ext cx="2222742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execução conta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9313729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8"/>
          <p:cNvSpPr/>
          <p:nvPr/>
        </p:nvSpPr>
        <p:spPr>
          <a:xfrm>
            <a:off x="9508589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9"/>
          <p:cNvSpPr/>
          <p:nvPr/>
        </p:nvSpPr>
        <p:spPr>
          <a:xfrm>
            <a:off x="9703450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0"/>
          <p:cNvSpPr/>
          <p:nvPr/>
        </p:nvSpPr>
        <p:spPr>
          <a:xfrm>
            <a:off x="9898311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1"/>
          <p:cNvSpPr/>
          <p:nvPr/>
        </p:nvSpPr>
        <p:spPr>
          <a:xfrm>
            <a:off x="10093172" y="3578920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2"/>
          <p:cNvSpPr/>
          <p:nvPr/>
        </p:nvSpPr>
        <p:spPr>
          <a:xfrm>
            <a:off x="10403223" y="3556695"/>
            <a:ext cx="509872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–0,12</a:t>
            </a:r>
            <a:endParaRPr lang="en-US" sz="1700" dirty="0"/>
          </a:p>
        </p:txBody>
      </p:sp>
      <p:sp>
        <p:nvSpPr>
          <p:cNvPr id="37" name="Text 33"/>
          <p:cNvSpPr/>
          <p:nvPr/>
        </p:nvSpPr>
        <p:spPr>
          <a:xfrm>
            <a:off x="9313729" y="3969246"/>
            <a:ext cx="222274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Pneus</a:t>
            </a:r>
            <a:endParaRPr lang="en-US" sz="1700" dirty="0"/>
          </a:p>
        </p:txBody>
      </p:sp>
      <p:sp>
        <p:nvSpPr>
          <p:cNvPr id="38" name="Text 34"/>
          <p:cNvSpPr/>
          <p:nvPr/>
        </p:nvSpPr>
        <p:spPr>
          <a:xfrm>
            <a:off x="9313729" y="4412258"/>
            <a:ext cx="2222742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relevante, mas secundário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883327" y="5052715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6"/>
          <p:cNvSpPr/>
          <p:nvPr/>
        </p:nvSpPr>
        <p:spPr>
          <a:xfrm>
            <a:off x="7078188" y="5052715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7"/>
          <p:cNvSpPr/>
          <p:nvPr/>
        </p:nvSpPr>
        <p:spPr>
          <a:xfrm>
            <a:off x="7273049" y="5052715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8"/>
          <p:cNvSpPr/>
          <p:nvPr/>
        </p:nvSpPr>
        <p:spPr>
          <a:xfrm>
            <a:off x="7467909" y="5052715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39"/>
          <p:cNvSpPr/>
          <p:nvPr/>
        </p:nvSpPr>
        <p:spPr>
          <a:xfrm>
            <a:off x="7662770" y="5052715"/>
            <a:ext cx="177200" cy="17720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0"/>
          <p:cNvSpPr/>
          <p:nvPr/>
        </p:nvSpPr>
        <p:spPr>
          <a:xfrm>
            <a:off x="7972821" y="5030490"/>
            <a:ext cx="572974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–0,07</a:t>
            </a:r>
            <a:endParaRPr lang="en-US" sz="1700" dirty="0"/>
          </a:p>
        </p:txBody>
      </p:sp>
      <p:sp>
        <p:nvSpPr>
          <p:cNvPr id="45" name="Text 41"/>
          <p:cNvSpPr/>
          <p:nvPr/>
        </p:nvSpPr>
        <p:spPr>
          <a:xfrm>
            <a:off x="6883327" y="5443041"/>
            <a:ext cx="222274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Clima</a:t>
            </a:r>
            <a:endParaRPr lang="en-US" sz="1700" dirty="0"/>
          </a:p>
        </p:txBody>
      </p:sp>
      <p:sp>
        <p:nvSpPr>
          <p:cNvPr id="46" name="Text 42"/>
          <p:cNvSpPr/>
          <p:nvPr/>
        </p:nvSpPr>
        <p:spPr>
          <a:xfrm>
            <a:off x="6883327" y="5886053"/>
            <a:ext cx="2222742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fator menor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2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Construindo o Modelo de Machine Learning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8368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Seguimos o ciclo completo de ML da disciplina.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38338"/>
            <a:ext cx="6923410" cy="25980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5522" y="4526197"/>
            <a:ext cx="1044255" cy="20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Otimização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55522" y="4784585"/>
            <a:ext cx="1044255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Grid Search + GroupKFold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39473" y="4601634"/>
            <a:ext cx="104425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Avaliação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39473" y="4860022"/>
            <a:ext cx="1044256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F1, ROC-AUC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30577" y="4601634"/>
            <a:ext cx="104425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Treinamento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630577" y="4860022"/>
            <a:ext cx="1044256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 algoritmos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21681" y="4425613"/>
            <a:ext cx="1044256" cy="402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Separação Temporal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321681" y="4885168"/>
            <a:ext cx="1044256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 2018–2023 / teste 2024–2025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84176" y="4501050"/>
            <a:ext cx="1044256" cy="402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Seleção de Features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84176" y="4960606"/>
            <a:ext cx="1044256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18 variáveis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994648" y="1943795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Classificação binária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994648" y="2346920"/>
            <a:ext cx="415140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Vitória (1)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ou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não vitória (0)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em Interlagos.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94648" y="2739628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Modelos comparados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94648" y="3160812"/>
            <a:ext cx="3541822" cy="627162"/>
          </a:xfrm>
          <a:prstGeom prst="roundRect">
            <a:avLst>
              <a:gd name="adj" fmla="val 11076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178992" y="3345160"/>
            <a:ext cx="317313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Regressão Logística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994648" y="3932634"/>
            <a:ext cx="3541822" cy="627162"/>
          </a:xfrm>
          <a:prstGeom prst="roundRect">
            <a:avLst>
              <a:gd name="adj" fmla="val 11076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178992" y="4116983"/>
            <a:ext cx="317313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Árvore de Decisão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994648" y="4704457"/>
            <a:ext cx="3541822" cy="627162"/>
          </a:xfrm>
          <a:prstGeom prst="roundRect">
            <a:avLst>
              <a:gd name="adj" fmla="val 11076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8178992" y="4888805"/>
            <a:ext cx="317313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994648" y="5494338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Interpretação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994648" y="5897463"/>
            <a:ext cx="415140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 Importance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6902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 Dataset de Machine Learning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356682" y="1389658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140 registros · 7 corridas · 18 features · 2018–2025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2691507"/>
            <a:ext cx="329219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Volume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1475" y="3166170"/>
            <a:ext cx="3292194" cy="1051223"/>
          </a:xfrm>
          <a:prstGeom prst="roundRect">
            <a:avLst>
              <a:gd name="adj" fmla="val 719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47902" y="3352602"/>
            <a:ext cx="291933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140 Registros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7902" y="3805734"/>
            <a:ext cx="2919339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 piloto × 1 corrida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4389041"/>
            <a:ext cx="3292194" cy="1051223"/>
          </a:xfrm>
          <a:prstGeom prst="roundRect">
            <a:avLst>
              <a:gd name="adj" fmla="val 719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47902" y="4575473"/>
            <a:ext cx="291933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18 Features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47902" y="5028605"/>
            <a:ext cx="2919339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16 numéricas · 2 categóricas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99547" y="2691507"/>
            <a:ext cx="340520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Cobertura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4399547" y="3166170"/>
            <a:ext cx="3405202" cy="1051223"/>
          </a:xfrm>
          <a:prstGeom prst="roundRect">
            <a:avLst>
              <a:gd name="adj" fmla="val 719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585974" y="3352602"/>
            <a:ext cx="303234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 Corridas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585974" y="3805734"/>
            <a:ext cx="3032347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GP de São Paulo 2018–2025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99547" y="4389041"/>
            <a:ext cx="3405202" cy="1051223"/>
          </a:xfrm>
          <a:prstGeom prst="roundRect">
            <a:avLst>
              <a:gd name="adj" fmla="val 719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585974" y="4575473"/>
            <a:ext cx="303234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Sem 2020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585974" y="5028605"/>
            <a:ext cx="3032347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GP cancelado na pandemia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50626" y="2035969"/>
            <a:ext cx="329219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⚖️</a:t>
            </a: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Classes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8250626" y="2600623"/>
            <a:ext cx="2714061" cy="225127"/>
          </a:xfrm>
          <a:prstGeom prst="roundRect">
            <a:avLst>
              <a:gd name="adj" fmla="val 3361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8250626" y="2600623"/>
            <a:ext cx="2578333" cy="225127"/>
          </a:xfrm>
          <a:prstGeom prst="roundRect">
            <a:avLst>
              <a:gd name="adj" fmla="val 33611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11099721" y="2600523"/>
            <a:ext cx="443100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95%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8250626" y="3044527"/>
            <a:ext cx="329219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Não vitórias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8250626" y="3497659"/>
            <a:ext cx="3292194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133 registros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50626" y="4156273"/>
            <a:ext cx="2854750" cy="225127"/>
          </a:xfrm>
          <a:prstGeom prst="roundRect">
            <a:avLst>
              <a:gd name="adj" fmla="val 3361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8250626" y="4156273"/>
            <a:ext cx="142673" cy="225127"/>
          </a:xfrm>
          <a:prstGeom prst="roundRect">
            <a:avLst>
              <a:gd name="adj" fmla="val 5000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11240409" y="4156174"/>
            <a:ext cx="302411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5%</a:t>
            </a:r>
            <a:endParaRPr lang="en-US" sz="1750" dirty="0"/>
          </a:p>
        </p:txBody>
      </p:sp>
      <p:sp>
        <p:nvSpPr>
          <p:cNvPr id="29" name="Text 26"/>
          <p:cNvSpPr/>
          <p:nvPr/>
        </p:nvSpPr>
        <p:spPr>
          <a:xfrm>
            <a:off x="8250626" y="4600178"/>
            <a:ext cx="329219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Vitórias</a:t>
            </a:r>
            <a:endParaRPr lang="en-US" sz="1750" dirty="0"/>
          </a:p>
        </p:txBody>
      </p:sp>
      <p:sp>
        <p:nvSpPr>
          <p:cNvPr id="30" name="Text 27"/>
          <p:cNvSpPr/>
          <p:nvPr/>
        </p:nvSpPr>
        <p:spPr>
          <a:xfrm>
            <a:off x="8250626" y="5053310"/>
            <a:ext cx="3292194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 vencedores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50626" y="5471716"/>
            <a:ext cx="3292194" cy="624086"/>
          </a:xfrm>
          <a:prstGeom prst="roundRect">
            <a:avLst>
              <a:gd name="adj" fmla="val 12124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04" y="5703788"/>
            <a:ext cx="180078" cy="14406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790859" y="5671145"/>
            <a:ext cx="3181469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Accuracy isolada não é suficiente.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4054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Comparação entre Modelos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356682" y="1396702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 algoritmos avaliados — Random Forest venceu em todas as métricas relevantes.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2081113"/>
            <a:ext cx="33957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Regressão Logística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61475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66059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1070643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1275227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1479811" y="2670770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805339" y="2647454"/>
            <a:ext cx="456395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84%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1475" y="3087092"/>
            <a:ext cx="33957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61475" y="3837087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866059" y="3837087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1070643" y="3837087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275227" y="3837087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1479811" y="3837087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1805339" y="3813770"/>
            <a:ext cx="458280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60%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1475" y="4253409"/>
            <a:ext cx="33957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Recall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61475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866059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1070643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1275227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1479811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1805339" y="4980087"/>
            <a:ext cx="452426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0,87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61475" y="5419725"/>
            <a:ext cx="33957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ROC-AUC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517416" y="2081113"/>
            <a:ext cx="32825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Árvore de Decisão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4517416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4722000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4926584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5131168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5335752" y="2670770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5661280" y="2647454"/>
            <a:ext cx="458974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88%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517416" y="3087092"/>
            <a:ext cx="32825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Accuracy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4517416" y="3837087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4"/>
          <p:cNvSpPr/>
          <p:nvPr/>
        </p:nvSpPr>
        <p:spPr>
          <a:xfrm>
            <a:off x="4722000" y="3837087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4926584" y="3837087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5131168" y="3837087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7"/>
          <p:cNvSpPr/>
          <p:nvPr/>
        </p:nvSpPr>
        <p:spPr>
          <a:xfrm>
            <a:off x="5335752" y="3837087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5661280" y="3813770"/>
            <a:ext cx="454510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40%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4517416" y="4253409"/>
            <a:ext cx="32825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Recall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4517416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1"/>
          <p:cNvSpPr/>
          <p:nvPr/>
        </p:nvSpPr>
        <p:spPr>
          <a:xfrm>
            <a:off x="4722000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2"/>
          <p:cNvSpPr/>
          <p:nvPr/>
        </p:nvSpPr>
        <p:spPr>
          <a:xfrm>
            <a:off x="4926584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3"/>
          <p:cNvSpPr/>
          <p:nvPr/>
        </p:nvSpPr>
        <p:spPr>
          <a:xfrm>
            <a:off x="5131168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4"/>
          <p:cNvSpPr/>
          <p:nvPr/>
        </p:nvSpPr>
        <p:spPr>
          <a:xfrm>
            <a:off x="5335752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5"/>
          <p:cNvSpPr/>
          <p:nvPr/>
        </p:nvSpPr>
        <p:spPr>
          <a:xfrm>
            <a:off x="5661280" y="4980087"/>
            <a:ext cx="473162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0,65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4517416" y="5419725"/>
            <a:ext cx="32825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ROC-AUC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8260151" y="2081113"/>
            <a:ext cx="32825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Random Forest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8260151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49"/>
          <p:cNvSpPr/>
          <p:nvPr/>
        </p:nvSpPr>
        <p:spPr>
          <a:xfrm>
            <a:off x="8464735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0"/>
          <p:cNvSpPr/>
          <p:nvPr/>
        </p:nvSpPr>
        <p:spPr>
          <a:xfrm>
            <a:off x="8669319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1"/>
          <p:cNvSpPr/>
          <p:nvPr/>
        </p:nvSpPr>
        <p:spPr>
          <a:xfrm>
            <a:off x="8873903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2"/>
          <p:cNvSpPr/>
          <p:nvPr/>
        </p:nvSpPr>
        <p:spPr>
          <a:xfrm>
            <a:off x="9078487" y="2670770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3"/>
          <p:cNvSpPr/>
          <p:nvPr/>
        </p:nvSpPr>
        <p:spPr>
          <a:xfrm>
            <a:off x="9404016" y="2647454"/>
            <a:ext cx="456593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94%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8260151" y="3087092"/>
            <a:ext cx="32825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Accuracy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8260151" y="3837087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6"/>
          <p:cNvSpPr/>
          <p:nvPr/>
        </p:nvSpPr>
        <p:spPr>
          <a:xfrm>
            <a:off x="8464735" y="3837087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7"/>
          <p:cNvSpPr/>
          <p:nvPr/>
        </p:nvSpPr>
        <p:spPr>
          <a:xfrm>
            <a:off x="8669319" y="3837087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58"/>
          <p:cNvSpPr/>
          <p:nvPr/>
        </p:nvSpPr>
        <p:spPr>
          <a:xfrm>
            <a:off x="8873903" y="3837087"/>
            <a:ext cx="186031" cy="186035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59"/>
          <p:cNvSpPr/>
          <p:nvPr/>
        </p:nvSpPr>
        <p:spPr>
          <a:xfrm>
            <a:off x="9078487" y="3837087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0"/>
          <p:cNvSpPr/>
          <p:nvPr/>
        </p:nvSpPr>
        <p:spPr>
          <a:xfrm>
            <a:off x="9404016" y="3813770"/>
            <a:ext cx="360552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71%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8260151" y="4253409"/>
            <a:ext cx="32825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Recall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8260151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3"/>
          <p:cNvSpPr/>
          <p:nvPr/>
        </p:nvSpPr>
        <p:spPr>
          <a:xfrm>
            <a:off x="8464735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4"/>
          <p:cNvSpPr/>
          <p:nvPr/>
        </p:nvSpPr>
        <p:spPr>
          <a:xfrm>
            <a:off x="8669319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5"/>
          <p:cNvSpPr/>
          <p:nvPr/>
        </p:nvSpPr>
        <p:spPr>
          <a:xfrm>
            <a:off x="8873903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6"/>
          <p:cNvSpPr/>
          <p:nvPr/>
        </p:nvSpPr>
        <p:spPr>
          <a:xfrm>
            <a:off x="9078487" y="5003403"/>
            <a:ext cx="186031" cy="186035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7"/>
          <p:cNvSpPr/>
          <p:nvPr/>
        </p:nvSpPr>
        <p:spPr>
          <a:xfrm>
            <a:off x="9404016" y="4980087"/>
            <a:ext cx="474948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0,96</a:t>
            </a:r>
            <a:endParaRPr lang="en-US" sz="1800" dirty="0"/>
          </a:p>
        </p:txBody>
      </p:sp>
      <p:sp>
        <p:nvSpPr>
          <p:cNvPr id="71" name="Text 68"/>
          <p:cNvSpPr/>
          <p:nvPr/>
        </p:nvSpPr>
        <p:spPr>
          <a:xfrm>
            <a:off x="8260151" y="5419725"/>
            <a:ext cx="32825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ROC-AUC</a:t>
            </a:r>
            <a:endParaRPr lang="en-US" sz="1800" dirty="0"/>
          </a:p>
        </p:txBody>
      </p:sp>
      <p:sp>
        <p:nvSpPr>
          <p:cNvPr id="72" name="Text 69"/>
          <p:cNvSpPr/>
          <p:nvPr/>
        </p:nvSpPr>
        <p:spPr>
          <a:xfrm>
            <a:off x="7955359" y="5916414"/>
            <a:ext cx="389215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Selecionado para tuning — melhor ROC-AUC.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77354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Otimização e Seleção do Modelo Final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56682" y="1328241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Grid Search com GroupKFold — sem vazamento de dados entre corridas.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2354858"/>
            <a:ext cx="466495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Configuração Final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61475" y="2786559"/>
            <a:ext cx="4664950" cy="2871986"/>
          </a:xfrm>
          <a:prstGeom prst="roundRect">
            <a:avLst>
              <a:gd name="adj" fmla="val 246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67825" y="2792909"/>
            <a:ext cx="4652251" cy="953095"/>
          </a:xfrm>
          <a:custGeom>
            <a:avLst/>
            <a:gdLst/>
            <a:ahLst/>
            <a:cxnLst/>
            <a:rect l="l" t="t" r="r" b="b"/>
            <a:pathLst>
              <a:path w="4652251" h="953095">
                <a:moveTo>
                  <a:pt x="58921" y="0"/>
                </a:moveTo>
                <a:lnTo>
                  <a:pt x="4593330" y="0"/>
                </a:lnTo>
                <a:arcTo wR="58921" hR="58922" stAng="16200000" swAng="5400000"/>
                <a:lnTo>
                  <a:pt x="4652251" y="953095"/>
                </a:lnTo>
                <a:lnTo>
                  <a:pt x="0" y="953095"/>
                </a:lnTo>
                <a:lnTo>
                  <a:pt x="0" y="58922"/>
                </a:lnTo>
                <a:arcTo wR="58921" hR="58922" stAng="10800000" swAng="5400000"/>
                <a:close/>
              </a:path>
            </a:pathLst>
          </a:cu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36095" y="2961184"/>
            <a:ext cx="431570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300 Árvores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36095" y="3374132"/>
            <a:ext cx="431570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7825" y="3746004"/>
            <a:ext cx="4652251" cy="953095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67825" y="3746004"/>
            <a:ext cx="4652251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36095" y="3914279"/>
            <a:ext cx="431570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Profundidade 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36095" y="4327227"/>
            <a:ext cx="431570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7825" y="4699099"/>
            <a:ext cx="4652251" cy="953095"/>
          </a:xfrm>
          <a:custGeom>
            <a:avLst/>
            <a:gdLst/>
            <a:ahLst/>
            <a:cxnLst/>
            <a:rect l="l" t="t" r="r" b="b"/>
            <a:pathLst>
              <a:path w="4652251" h="953095">
                <a:moveTo>
                  <a:pt x="0" y="0"/>
                </a:moveTo>
                <a:lnTo>
                  <a:pt x="4652251" y="0"/>
                </a:lnTo>
                <a:lnTo>
                  <a:pt x="4652251" y="894173"/>
                </a:lnTo>
                <a:arcTo wR="58921" hR="58922" stAng="0" swAng="5400000"/>
                <a:lnTo>
                  <a:pt x="58921" y="953095"/>
                </a:lnTo>
                <a:arcTo wR="58921" hR="58922" stAng="5400000" swAng="5400000"/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67825" y="4699099"/>
            <a:ext cx="4652251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36095" y="4867374"/>
            <a:ext cx="431570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Balanceado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36095" y="5280323"/>
            <a:ext cx="431570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class_weight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43531" y="1901428"/>
            <a:ext cx="579294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Resultados do Tuning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5743531" y="2333129"/>
            <a:ext cx="5792940" cy="1159669"/>
          </a:xfrm>
          <a:prstGeom prst="roundRect">
            <a:avLst>
              <a:gd name="adj" fmla="val 6097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578" y="2251174"/>
            <a:ext cx="202004" cy="202009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6419" y="3372743"/>
            <a:ext cx="202004" cy="20200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15085" y="2604691"/>
            <a:ext cx="52498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F1 médio = 0,63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6015085" y="3017639"/>
            <a:ext cx="524983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Melhor resultado no tuning entre os 3 modelos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743531" y="3642717"/>
            <a:ext cx="5792940" cy="1159669"/>
          </a:xfrm>
          <a:prstGeom prst="roundRect">
            <a:avLst>
              <a:gd name="adj" fmla="val 6097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578" y="3560763"/>
            <a:ext cx="202004" cy="202009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6419" y="4682331"/>
            <a:ext cx="202004" cy="20200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015085" y="3914279"/>
            <a:ext cx="52498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 folds agrupados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6015085" y="4327227"/>
            <a:ext cx="524983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Pilotos da mesma corrida nunca separados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743531" y="4952305"/>
            <a:ext cx="5792940" cy="1159669"/>
          </a:xfrm>
          <a:prstGeom prst="roundRect">
            <a:avLst>
              <a:gd name="adj" fmla="val 6097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578" y="4870351"/>
            <a:ext cx="202004" cy="202009"/>
          </a:xfrm>
          <a:prstGeom prst="rect">
            <a:avLst/>
          </a:prstGeom>
        </p:spPr>
      </p:pic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6419" y="5991920"/>
            <a:ext cx="202004" cy="20200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015085" y="5223867"/>
            <a:ext cx="52498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Random Forest</a:t>
            </a:r>
            <a:endParaRPr lang="en-US" sz="1650" dirty="0"/>
          </a:p>
        </p:txBody>
      </p:sp>
      <p:sp>
        <p:nvSpPr>
          <p:cNvPr id="34" name="Text 25"/>
          <p:cNvSpPr/>
          <p:nvPr/>
        </p:nvSpPr>
        <p:spPr>
          <a:xfrm>
            <a:off x="6015085" y="5636816"/>
            <a:ext cx="524983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Selecionado como modelo final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661475" y="867767"/>
            <a:ext cx="1806232" cy="287139"/>
          </a:xfrm>
          <a:prstGeom prst="roundRect">
            <a:avLst>
              <a:gd name="adj" fmla="val 22118"/>
            </a:avLst>
          </a:prstGeom>
          <a:solidFill>
            <a:srgbClr val="2525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74879" y="924421"/>
            <a:ext cx="21890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RESULTADO PRINCIPAL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123051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 que diferencia uma corrida vencedora em Interlagos?</a:t>
            </a:r>
            <a:endParaRPr lang="en-US" sz="3700" dirty="0"/>
          </a:p>
        </p:txBody>
      </p:sp>
      <p:sp>
        <p:nvSpPr>
          <p:cNvPr id="7" name="Shape 4"/>
          <p:cNvSpPr/>
          <p:nvPr/>
        </p:nvSpPr>
        <p:spPr>
          <a:xfrm>
            <a:off x="661475" y="3002359"/>
            <a:ext cx="189007" cy="189012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69333" y="3002359"/>
            <a:ext cx="189007" cy="189012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1077191" y="3002359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1285049" y="3002359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1492907" y="3002359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823595" y="2978745"/>
            <a:ext cx="45510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30%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61475" y="3427512"/>
            <a:ext cx="33909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Ritmo de Corrida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61475" y="3911798"/>
            <a:ext cx="339091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Fator #1 do modelo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1475" y="4626173"/>
            <a:ext cx="189007" cy="189012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69333" y="4626173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077191" y="4626173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1285049" y="4626173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1492907" y="4626173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1823595" y="4602559"/>
            <a:ext cx="38803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19%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661475" y="5051326"/>
            <a:ext cx="33909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Grid de Largada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661475" y="5535613"/>
            <a:ext cx="339091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Fator #2 do modelo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19896" y="3002359"/>
            <a:ext cx="189007" cy="189012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4727754" y="3002359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935612" y="3002359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5143471" y="3002359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351329" y="3002359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682016" y="2978745"/>
            <a:ext cx="38615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15%</a:t>
            </a:r>
            <a:endParaRPr lang="en-US" sz="1850" dirty="0"/>
          </a:p>
        </p:txBody>
      </p:sp>
      <p:sp>
        <p:nvSpPr>
          <p:cNvPr id="29" name="Text 26"/>
          <p:cNvSpPr/>
          <p:nvPr/>
        </p:nvSpPr>
        <p:spPr>
          <a:xfrm>
            <a:off x="4519896" y="3427512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Stop</a:t>
            </a:r>
            <a:endParaRPr lang="en-US" sz="1850" dirty="0"/>
          </a:p>
        </p:txBody>
      </p:sp>
      <p:sp>
        <p:nvSpPr>
          <p:cNvPr id="30" name="Text 27"/>
          <p:cNvSpPr/>
          <p:nvPr/>
        </p:nvSpPr>
        <p:spPr>
          <a:xfrm>
            <a:off x="4519896" y="3911798"/>
            <a:ext cx="327770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Fator #3 do modelo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19896" y="4626173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727754" y="4626173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4935612" y="4626173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5143471" y="4626173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5351329" y="4626173"/>
            <a:ext cx="189007" cy="189012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5682016" y="4602559"/>
            <a:ext cx="40073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1,00</a:t>
            </a:r>
            <a:endParaRPr lang="en-US" sz="1850" dirty="0"/>
          </a:p>
        </p:txBody>
      </p:sp>
      <p:sp>
        <p:nvSpPr>
          <p:cNvPr id="37" name="Text 34"/>
          <p:cNvSpPr/>
          <p:nvPr/>
        </p:nvSpPr>
        <p:spPr>
          <a:xfrm>
            <a:off x="4519896" y="5051326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ROC Perfeito</a:t>
            </a:r>
            <a:endParaRPr lang="en-US" sz="1850" dirty="0"/>
          </a:p>
        </p:txBody>
      </p:sp>
      <p:sp>
        <p:nvSpPr>
          <p:cNvPr id="38" name="Text 35"/>
          <p:cNvSpPr/>
          <p:nvPr/>
        </p:nvSpPr>
        <p:spPr>
          <a:xfrm>
            <a:off x="4519896" y="5535613"/>
            <a:ext cx="327770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conjunto de teste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265112" y="2907903"/>
            <a:ext cx="3277709" cy="1116905"/>
          </a:xfrm>
          <a:prstGeom prst="roundRect">
            <a:avLst>
              <a:gd name="adj" fmla="val 710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8460469" y="3103265"/>
            <a:ext cx="28869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2024</a:t>
            </a:r>
            <a:endParaRPr lang="en-US" sz="1850" dirty="0"/>
          </a:p>
        </p:txBody>
      </p:sp>
      <p:sp>
        <p:nvSpPr>
          <p:cNvPr id="41" name="Text 38"/>
          <p:cNvSpPr/>
          <p:nvPr/>
        </p:nvSpPr>
        <p:spPr>
          <a:xfrm>
            <a:off x="8460469" y="3587552"/>
            <a:ext cx="2886995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Verstappen — 1º no ranking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8265112" y="4213820"/>
            <a:ext cx="3277709" cy="1116905"/>
          </a:xfrm>
          <a:prstGeom prst="roundRect">
            <a:avLst>
              <a:gd name="adj" fmla="val 710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8460469" y="4409182"/>
            <a:ext cx="28869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2025</a:t>
            </a:r>
            <a:endParaRPr lang="en-US" sz="1850" dirty="0"/>
          </a:p>
        </p:txBody>
      </p:sp>
      <p:sp>
        <p:nvSpPr>
          <p:cNvPr id="44" name="Text 41"/>
          <p:cNvSpPr/>
          <p:nvPr/>
        </p:nvSpPr>
        <p:spPr>
          <a:xfrm>
            <a:off x="8460469" y="4893469"/>
            <a:ext cx="2886995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Norris — 1º no ranking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8265112" y="5543352"/>
            <a:ext cx="3887293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2/2 vencedores identificados — 100% de acerto.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77056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 que mais importa para vencer em Interlagos?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1397695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Importância relativa dos grupos de fatores — Random Forest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065536"/>
            <a:ext cx="5779943" cy="31877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87296" y="2155527"/>
            <a:ext cx="1337237" cy="225127"/>
          </a:xfrm>
          <a:prstGeom prst="roundRect">
            <a:avLst>
              <a:gd name="adj" fmla="val 3361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4"/>
          <p:cNvSpPr/>
          <p:nvPr/>
        </p:nvSpPr>
        <p:spPr>
          <a:xfrm>
            <a:off x="6887296" y="2155527"/>
            <a:ext cx="401131" cy="225127"/>
          </a:xfrm>
          <a:prstGeom prst="roundRect">
            <a:avLst>
              <a:gd name="adj" fmla="val 33611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8359566" y="2155428"/>
            <a:ext cx="745015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30,38%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887296" y="2599432"/>
            <a:ext cx="221728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Ritmo de Corrida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887296" y="3052564"/>
            <a:ext cx="2217285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fator #1 do modelo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319186" y="2155527"/>
            <a:ext cx="1401033" cy="225127"/>
          </a:xfrm>
          <a:prstGeom prst="roundRect">
            <a:avLst>
              <a:gd name="adj" fmla="val 3361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9319186" y="2155527"/>
            <a:ext cx="266098" cy="225127"/>
          </a:xfrm>
          <a:prstGeom prst="roundRect">
            <a:avLst>
              <a:gd name="adj" fmla="val 33611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0855252" y="2155428"/>
            <a:ext cx="681219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19,39%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9319186" y="2599432"/>
            <a:ext cx="221728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Grid de Largada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9319186" y="3052564"/>
            <a:ext cx="2217285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fator #2 do modelo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87296" y="3711178"/>
            <a:ext cx="1474354" cy="225127"/>
          </a:xfrm>
          <a:prstGeom prst="roundRect">
            <a:avLst>
              <a:gd name="adj" fmla="val 3361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6887296" y="3711178"/>
            <a:ext cx="58934" cy="225127"/>
          </a:xfrm>
          <a:prstGeom prst="roundRect">
            <a:avLst>
              <a:gd name="adj" fmla="val 5000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8496683" y="3711079"/>
            <a:ext cx="607898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4,20%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6887296" y="4155083"/>
            <a:ext cx="221728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Clima</a:t>
            </a:r>
            <a:endParaRPr lang="en-US" sz="1750" dirty="0"/>
          </a:p>
        </p:txBody>
      </p:sp>
      <p:sp>
        <p:nvSpPr>
          <p:cNvPr id="21" name="Text 17"/>
          <p:cNvSpPr/>
          <p:nvPr/>
        </p:nvSpPr>
        <p:spPr>
          <a:xfrm>
            <a:off x="6887296" y="4608215"/>
            <a:ext cx="2217285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menor influência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61475" y="5639594"/>
            <a:ext cx="10868745" cy="641251"/>
          </a:xfrm>
          <a:prstGeom prst="roundRect">
            <a:avLst>
              <a:gd name="adj" fmla="val 11800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552" y="5888831"/>
            <a:ext cx="180078" cy="14406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01707" y="5856188"/>
            <a:ext cx="10758020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Ritmo de corrida e posição de largada respondem por quase metade da capacidade preditiva do modelo.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6302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Aplicação para Gabriel Bortoleto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150435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modelo como referência analítica — não como previsão determinística.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23892" y="2945309"/>
            <a:ext cx="1479811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−1,48%</a:t>
            </a:r>
            <a:endParaRPr lang="en-US" sz="3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279253"/>
            <a:ext cx="1804744" cy="18047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4320282"/>
            <a:ext cx="18047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Ritmo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61475" y="4804569"/>
            <a:ext cx="180474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Vencedores vs −0.003%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096143" y="2945309"/>
            <a:ext cx="1479811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2,8ª</a:t>
            </a:r>
            <a:endParaRPr lang="en-US" sz="3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726" y="2279253"/>
            <a:ext cx="1804744" cy="18047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33726" y="4320282"/>
            <a:ext cx="18047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Grid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2933726" y="4804569"/>
            <a:ext cx="180474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Posição média de largada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368394" y="2945309"/>
            <a:ext cx="1479811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22,5s</a:t>
            </a:r>
            <a:endParaRPr lang="en-US" sz="3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977" y="2279253"/>
            <a:ext cx="1804744" cy="180478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05977" y="4320282"/>
            <a:ext cx="18047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Stop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5205977" y="4804569"/>
            <a:ext cx="180474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vs 23,1s dos demais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640645" y="2945309"/>
            <a:ext cx="1479811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🔄</a:t>
            </a:r>
            <a:endParaRPr lang="en-US" sz="37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8228" y="2279253"/>
            <a:ext cx="1804744" cy="180478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78228" y="4320282"/>
            <a:ext cx="18047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Stints</a:t>
            </a:r>
            <a:endParaRPr lang="en-US" sz="1850" dirty="0"/>
          </a:p>
        </p:txBody>
      </p:sp>
      <p:sp>
        <p:nvSpPr>
          <p:cNvPr id="21" name="Text 14"/>
          <p:cNvSpPr/>
          <p:nvPr/>
        </p:nvSpPr>
        <p:spPr>
          <a:xfrm>
            <a:off x="7478228" y="4804569"/>
            <a:ext cx="180474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Estratégia complementar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9912896" y="2945309"/>
            <a:ext cx="1479811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4,2%</a:t>
            </a:r>
            <a:endParaRPr lang="en-US" sz="37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0479" y="2279253"/>
            <a:ext cx="1804744" cy="180478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750479" y="4320282"/>
            <a:ext cx="18047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Clima</a:t>
            </a:r>
            <a:endParaRPr lang="en-US" sz="1850" dirty="0"/>
          </a:p>
        </p:txBody>
      </p:sp>
      <p:sp>
        <p:nvSpPr>
          <p:cNvPr id="25" name="Text 17"/>
          <p:cNvSpPr/>
          <p:nvPr/>
        </p:nvSpPr>
        <p:spPr>
          <a:xfrm>
            <a:off x="9750479" y="4804569"/>
            <a:ext cx="180474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Menor impacto relativo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661475" y="5471716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482" y="5739408"/>
            <a:ext cx="236234" cy="18901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275723" y="570795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Ritmo e grid são os fatores que mais aproximam Bortoleto do perfil vencedor em Interlagos.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978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9786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19807"/>
            <a:ext cx="10868745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Simulador de Cenários — Bortoleto em Interlagos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356682" y="1957388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Ferramenta exploratória: compara combinações de fatores com o perfil histórico dos vencedores.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664619"/>
            <a:ext cx="3282570" cy="2232025"/>
          </a:xfrm>
          <a:prstGeom prst="roundRect">
            <a:avLst>
              <a:gd name="adj" fmla="val 350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53855" y="2857004"/>
            <a:ext cx="289781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Cenário Competitivo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3855" y="3330873"/>
            <a:ext cx="2897810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Grid: P3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Ritmo relativo: −1,5%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Pit stop mediano: 22,5 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Indicador: ~80/100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404210" y="2664619"/>
            <a:ext cx="3395776" cy="2232025"/>
          </a:xfrm>
          <a:prstGeom prst="roundRect">
            <a:avLst>
              <a:gd name="adj" fmla="val 350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596590" y="2857004"/>
            <a:ext cx="301101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Cenário Intermediário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96590" y="3330873"/>
            <a:ext cx="3011015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Grid: P8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Ritmo relativo: −0,5%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Pit stop mediano: 23,2 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Indicador: ~55/100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260151" y="2664619"/>
            <a:ext cx="3282570" cy="2232025"/>
          </a:xfrm>
          <a:prstGeom prst="roundRect">
            <a:avLst>
              <a:gd name="adj" fmla="val 350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452532" y="2857004"/>
            <a:ext cx="289781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Cenário Desafiador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452532" y="3330873"/>
            <a:ext cx="2897810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Grid: P15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Ritmo relativo: +0,8%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Pit stop mediano: 24,0 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Indicador: ~25/100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1475" y="5308600"/>
            <a:ext cx="10868745" cy="1031379"/>
          </a:xfrm>
          <a:prstGeom prst="roundRect">
            <a:avLst>
              <a:gd name="adj" fmla="val 7577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05" y="5572224"/>
            <a:ext cx="232563" cy="1860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6099" y="5538192"/>
            <a:ext cx="1007809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indicador heurístico usa pesos aproximados da importância do Random Forest: 45% ritmo · 30% grid · 25% pit stop. Não é uma probabilidade de vitória — é uma ferramenta de comparação de cenários.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75568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Prioridades Estratégicas para Bortoleto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56682" y="1292523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que o modelo e o histórico sugerem como foco para Interlagos.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905051" y="2097088"/>
            <a:ext cx="5120948" cy="162421"/>
          </a:xfrm>
          <a:prstGeom prst="roundRect">
            <a:avLst>
              <a:gd name="adj" fmla="val 4200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3892" y="2561431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Maximizar ritmo sustentável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3892" y="2898973"/>
            <a:ext cx="503979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fator #1 do modelo. Não apenas uma volta rápida — ritmo competitivo ao longo dos stints.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9172" y="1853505"/>
            <a:ext cx="5120948" cy="162421"/>
          </a:xfrm>
          <a:prstGeom prst="roundRect">
            <a:avLst>
              <a:gd name="adj" fmla="val 4200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328014" y="2317849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Reduzir dependência de recuperação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328014" y="2655391"/>
            <a:ext cx="503979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Classificação forte reduz tráfego, risco de incidentes e amplia opções estratégicas.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05051" y="4090095"/>
            <a:ext cx="5120948" cy="162421"/>
          </a:xfrm>
          <a:prstGeom prst="roundRect">
            <a:avLst>
              <a:gd name="adj" fmla="val 4200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23892" y="4554438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Executar a estratégia sem perdas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23892" y="4891980"/>
            <a:ext cx="503979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Pit stops, pneus e stints não substituem ritmo, mas podem preservar ou desperdiçar vantagem.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9172" y="3846513"/>
            <a:ext cx="5120948" cy="162421"/>
          </a:xfrm>
          <a:prstGeom prst="roundRect">
            <a:avLst>
              <a:gd name="adj" fmla="val 4200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328014" y="4310856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Usar clima e Safety Car como contexto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328014" y="4648398"/>
            <a:ext cx="503979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Chuva e neutralizações mudam a dinâmica — tratar como variável, não como garantia.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1475" y="5694561"/>
            <a:ext cx="10868745" cy="587871"/>
          </a:xfrm>
          <a:prstGeom prst="roundRect">
            <a:avLst>
              <a:gd name="adj" fmla="val 11605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92" y="5897563"/>
            <a:ext cx="202996" cy="16242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9305" y="5874643"/>
            <a:ext cx="1078808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melhor estratégia combina ritmo, classificação e execução estratégica trabalhando em conjunto — não existe uma única 'variável mágica'.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61475" y="1934617"/>
            <a:ext cx="487251" cy="487263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83312" y="2056457"/>
            <a:ext cx="243576" cy="24358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165597" y="1691035"/>
            <a:ext cx="487251" cy="487263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87434" y="1812875"/>
            <a:ext cx="243576" cy="24358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61475" y="3927624"/>
            <a:ext cx="487251" cy="487263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83312" y="4049464"/>
            <a:ext cx="243576" cy="24358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165597" y="3684042"/>
            <a:ext cx="487251" cy="487263"/>
          </a:xfrm>
          <a:prstGeom prst="ellipse">
            <a:avLst/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87434" y="3805882"/>
            <a:ext cx="243576" cy="243582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6512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8114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Limitações do Projeto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168552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Honestidade analítica faz parte da ciência de dados.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229502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661475" y="315495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Corridas na amostra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363135" y="229502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5%</a:t>
            </a:r>
            <a:endParaRPr lang="en-US" sz="4900" dirty="0"/>
          </a:p>
        </p:txBody>
      </p:sp>
      <p:sp>
        <p:nvSpPr>
          <p:cNvPr id="9" name="Text 6"/>
          <p:cNvSpPr/>
          <p:nvPr/>
        </p:nvSpPr>
        <p:spPr>
          <a:xfrm>
            <a:off x="4363135" y="315495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Registros são vitórias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064794" y="229502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</a:t>
            </a:r>
            <a:endParaRPr lang="en-US" sz="4900" dirty="0"/>
          </a:p>
        </p:txBody>
      </p:sp>
      <p:sp>
        <p:nvSpPr>
          <p:cNvPr id="11" name="Text 8"/>
          <p:cNvSpPr/>
          <p:nvPr/>
        </p:nvSpPr>
        <p:spPr>
          <a:xfrm>
            <a:off x="8064794" y="315495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Relação causal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2512255" y="47826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Features pós-corrida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213915" y="3922713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🔗</a:t>
            </a:r>
            <a:endParaRPr lang="en-US" sz="4900" dirty="0"/>
          </a:p>
        </p:txBody>
      </p:sp>
      <p:sp>
        <p:nvSpPr>
          <p:cNvPr id="15" name="Text 12"/>
          <p:cNvSpPr/>
          <p:nvPr/>
        </p:nvSpPr>
        <p:spPr>
          <a:xfrm>
            <a:off x="6213915" y="47826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Alta colinearidade</a:t>
            </a:r>
            <a:endParaRPr lang="en-US" sz="1850" dirty="0"/>
          </a:p>
        </p:txBody>
      </p:sp>
      <p:sp>
        <p:nvSpPr>
          <p:cNvPr id="16" name="Shape 13"/>
          <p:cNvSpPr/>
          <p:nvPr/>
        </p:nvSpPr>
        <p:spPr>
          <a:xfrm>
            <a:off x="661475" y="5290542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558234"/>
            <a:ext cx="236234" cy="1890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75723" y="5526782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Associações históricas — não causalidade.</a:t>
            </a:r>
            <a:endParaRPr lang="en-US" sz="1450" dirty="0"/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400" y="3856089"/>
            <a:ext cx="905001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528042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Próximos Passos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921742"/>
            <a:ext cx="1147833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etapa é um pit stop na jornada rumo à inteligência preditiva.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104602"/>
            <a:ext cx="10868745" cy="4890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98699" y="1362934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 smtClean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1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2298699" y="1740470"/>
            <a:ext cx="1902004" cy="35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Ampliar Histórico — Mais circuitos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179801" y="5031175"/>
            <a:ext cx="191245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 smtClean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2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179801" y="5408711"/>
            <a:ext cx="1912454" cy="35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Features Pré-Corrida — Prever antes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040002" y="1326356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 smtClean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3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040002" y="1703892"/>
            <a:ext cx="1902003" cy="35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Deep Learning — Padrões complexos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921104" y="5031175"/>
            <a:ext cx="190200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 smtClean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PIT 4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921104" y="5408711"/>
            <a:ext cx="1902004" cy="35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Dashboard ao Vivo — Decisões em tempo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61475" y="6055519"/>
            <a:ext cx="10868745" cy="274340"/>
          </a:xfrm>
          <a:prstGeom prst="roundRect">
            <a:avLst>
              <a:gd name="adj" fmla="val 15373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82" y="6134894"/>
            <a:ext cx="125509" cy="10040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797" y="6133902"/>
            <a:ext cx="11051601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 Interlagos para o mundo — um modelo que evolui a cada volta.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661475" y="1121370"/>
            <a:ext cx="1093462" cy="287139"/>
          </a:xfrm>
          <a:prstGeom prst="roundRect">
            <a:avLst>
              <a:gd name="adj" fmla="val 22118"/>
            </a:avLst>
          </a:prstGeom>
          <a:solidFill>
            <a:srgbClr val="2525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74879" y="1178024"/>
            <a:ext cx="14762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CONCLUSÃO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1484114"/>
            <a:ext cx="5203794" cy="2362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 dado revelou.</a:t>
            </a:r>
            <a:endParaRPr lang="en-US" sz="7400" dirty="0"/>
          </a:p>
        </p:txBody>
      </p:sp>
      <p:sp>
        <p:nvSpPr>
          <p:cNvPr id="7" name="Text 4"/>
          <p:cNvSpPr/>
          <p:nvPr/>
        </p:nvSpPr>
        <p:spPr>
          <a:xfrm>
            <a:off x="661475" y="4035921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 modelo confirmou.</a:t>
            </a:r>
            <a:endParaRPr lang="en-US" sz="2950" dirty="0"/>
          </a:p>
        </p:txBody>
      </p:sp>
      <p:sp>
        <p:nvSpPr>
          <p:cNvPr id="8" name="Shape 5"/>
          <p:cNvSpPr/>
          <p:nvPr/>
        </p:nvSpPr>
        <p:spPr>
          <a:xfrm>
            <a:off x="661475" y="4768255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61475" y="5053509"/>
            <a:ext cx="5203794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Ritmo de corrida e posição de largada respondem por quase 50% da capacidade preditiva do modelo Random Forest treinado com dados históricos de Interlagos.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32776" y="1121370"/>
            <a:ext cx="2507394" cy="1707455"/>
          </a:xfrm>
          <a:prstGeom prst="roundRect">
            <a:avLst>
              <a:gd name="adj" fmla="val 464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28133" y="1316732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🏎️</a:t>
            </a: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Ritmo + Grid = 49,77%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528133" y="2096294"/>
            <a:ext cx="2116680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Fatores dominantes identificados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029176" y="1121370"/>
            <a:ext cx="2507394" cy="1707455"/>
          </a:xfrm>
          <a:prstGeom prst="roundRect">
            <a:avLst>
              <a:gd name="adj" fmla="val 464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9224533" y="1316732"/>
            <a:ext cx="211668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2/2 Vencedores no topo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224533" y="2391569"/>
            <a:ext cx="211668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Verstappen 2024 · Norris 2025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32776" y="3017838"/>
            <a:ext cx="5203794" cy="1116905"/>
          </a:xfrm>
          <a:prstGeom prst="roundRect">
            <a:avLst>
              <a:gd name="adj" fmla="val 710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528133" y="3213199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ROC-AUC = 1,00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6528133" y="3697486"/>
            <a:ext cx="481308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Separação perfeita no conjunto de teste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61475" y="1626096"/>
            <a:ext cx="10868745" cy="177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Obrigado!</a:t>
            </a:r>
            <a:endParaRPr lang="en-US" sz="11150" dirty="0"/>
          </a:p>
        </p:txBody>
      </p:sp>
      <p:sp>
        <p:nvSpPr>
          <p:cNvPr id="5" name="Shape 2"/>
          <p:cNvSpPr/>
          <p:nvPr/>
        </p:nvSpPr>
        <p:spPr>
          <a:xfrm>
            <a:off x="661475" y="372883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1244</Words>
  <Application>Microsoft Office PowerPoint</Application>
  <PresentationFormat>Widescreen</PresentationFormat>
  <Paragraphs>306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0" baseType="lpstr">
      <vt:lpstr>Calibri</vt:lpstr>
      <vt:lpstr>Aptos</vt:lpstr>
      <vt:lpstr>Roboto Bold</vt:lpstr>
      <vt:lpstr>Poppins Light</vt:lpstr>
      <vt:lpstr>Roboto Light</vt:lpstr>
      <vt:lpstr>Arial</vt:lpstr>
      <vt:lpstr>Twemoji Mozilla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Maik Moreno Souza</dc:creator>
  <cp:lastModifiedBy>Conta da Microsoft</cp:lastModifiedBy>
  <cp:revision>5</cp:revision>
  <dcterms:created xsi:type="dcterms:W3CDTF">2026-09-16T21:30:24Z</dcterms:created>
  <dcterms:modified xsi:type="dcterms:W3CDTF">2026-09-19T19:54:58Z</dcterms:modified>
</cp:coreProperties>
</file>